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2"/>
    <p:sldId id="367" r:id="rId3"/>
    <p:sldId id="368" r:id="rId4"/>
    <p:sldId id="370" r:id="rId5"/>
    <p:sldId id="3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75" autoAdjust="0"/>
  </p:normalViewPr>
  <p:slideViewPr>
    <p:cSldViewPr>
      <p:cViewPr>
        <p:scale>
          <a:sx n="168" d="100"/>
          <a:sy n="168" d="100"/>
        </p:scale>
        <p:origin x="-1136" y="-88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10/6/26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10/6/26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10/6/26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10/6/26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10/6/26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ddit.com/r/raspberry_pi/comments/1t5tuu3/built_a_glitch_camera_with_raspberry_pi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www.instagram.com/cebolander/" TargetMode="External"/><Relationship Id="rId4" Type="http://schemas.openxmlformats.org/officeDocument/2006/relationships/hyperlink" Target="https://www.instagram.com/rewired_optics/" TargetMode="External"/><Relationship Id="rId9" Type="http://schemas.openxmlformats.org/officeDocument/2006/relationships/hyperlink" Target="https://github.com/makew0rld/live-glitch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ti.com/html/eguides/stem/innovator-basic/EN/content/eg_innovsys/m_bb-datasheets/bb_ds_7seg_display.HTML" TargetMode="External"/><Relationship Id="rId2" Type="http://schemas.openxmlformats.org/officeDocument/2006/relationships/hyperlink" Target="https://forum.arduino.cc/t/led-current-draw/55517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mazon.com/WGCD-Joystick-Breakout-Controller-Arduino/dp/B01N59MK0U" TargetMode="External"/><Relationship Id="rId4" Type="http://schemas.openxmlformats.org/officeDocument/2006/relationships/hyperlink" Target="https://forum.arduino.cc/t/why-does-potentiometer-resistance-value-not-matter/22311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arkfun.com/sparkfun-usb-type-a-female-breakout.html" TargetMode="External"/><Relationship Id="rId2" Type="http://schemas.openxmlformats.org/officeDocument/2006/relationships/hyperlink" Target="https://www.amazon.com/Display-240x320-Raspberry-Electronic-Projects/dp/B0H6VZD3LW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Glitch Camera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/>
          <a:lstStyle/>
          <a:p>
            <a:r>
              <a:rPr lang="en-US" dirty="0"/>
              <a:t>Oct 4, 2026 </a:t>
            </a:r>
          </a:p>
          <a:p>
            <a:r>
              <a:rPr lang="en-US" dirty="0"/>
              <a:t>Shuken Nakamura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being proposed?</a:t>
            </a:r>
          </a:p>
          <a:p>
            <a:pPr lvl="1"/>
            <a:r>
              <a:rPr lang="en-US" dirty="0"/>
              <a:t>Circuit-Bent Cameras: Create color and quality distortions by changing the color channels of digital camera input.</a:t>
            </a:r>
          </a:p>
          <a:p>
            <a:pPr lvl="1"/>
            <a:r>
              <a:rPr lang="en-US" dirty="0"/>
              <a:t>Tear/Smear Camera: Custom glitch effects that smear the lighting in a set direction</a:t>
            </a:r>
          </a:p>
          <a:p>
            <a:r>
              <a:rPr lang="en-US" dirty="0"/>
              <a:t>Taken experimental photography with analog (film) cameras, I want to be able to recreate the effects how different chemical processes affect film digitally. I want to combine the color effects and glitch effects are referenced. Additionally, I want to be able to change these effects using a physical nob. Thus, I am thinking of using potentiometer dials and analog stick joysticks to control the effects on the camera, rather than digital post-processing.</a:t>
            </a:r>
          </a:p>
          <a:p>
            <a:r>
              <a:rPr lang="en-US" dirty="0"/>
              <a:t>What improvements / additions over existing project</a:t>
            </a:r>
          </a:p>
          <a:p>
            <a:pPr lvl="1"/>
            <a:r>
              <a:rPr lang="en-US" dirty="0"/>
              <a:t>Combination of existing projects</a:t>
            </a:r>
          </a:p>
          <a:p>
            <a:pPr lvl="1"/>
            <a:r>
              <a:rPr lang="en-US" dirty="0"/>
              <a:t>Manual control rather than circuit-bent camera being the final</a:t>
            </a:r>
          </a:p>
          <a:p>
            <a:pPr lvl="1"/>
            <a:r>
              <a:rPr lang="en-US" dirty="0"/>
              <a:t>Potential printing option?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4DB553-4764-0E00-CC36-E00FABA73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1514"/>
            <a:ext cx="1604158" cy="167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BA04A9-20DC-6D15-E7C1-2B05DBA62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628" y="21514"/>
            <a:ext cx="1633078" cy="167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D1D296-C0D6-92C1-E8DE-9ECE0C7B7063}"/>
              </a:ext>
            </a:extLst>
          </p:cNvPr>
          <p:cNvSpPr txBox="1"/>
          <p:nvPr/>
        </p:nvSpPr>
        <p:spPr>
          <a:xfrm>
            <a:off x="609600" y="6172198"/>
            <a:ext cx="48924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Circuit Bending: </a:t>
            </a:r>
            <a:r>
              <a:rPr lang="en-US" sz="1400" dirty="0">
                <a:hlinkClick r:id="rId4"/>
              </a:rPr>
              <a:t>https://www.instagram.com/rewired_optics/</a:t>
            </a:r>
            <a:endParaRPr lang="en-US" sz="1400" dirty="0"/>
          </a:p>
          <a:p>
            <a:r>
              <a:rPr lang="en-US" sz="1400" dirty="0"/>
              <a:t>Glitch Camera: </a:t>
            </a:r>
            <a:r>
              <a:rPr lang="en-US" sz="1400" dirty="0">
                <a:hlinkClick r:id="rId5"/>
              </a:rPr>
              <a:t>https://www.instagram.com/cebolander/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5004D4-43C0-3A23-2FE6-88E999D473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2328" y="4507709"/>
            <a:ext cx="2155990" cy="16079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5BE860-5EEA-1BF1-06D1-F0CFE8D044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7898" y="4507709"/>
            <a:ext cx="2167620" cy="16079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CFEC65-9509-A651-3720-91D00F0EE5EF}"/>
              </a:ext>
            </a:extLst>
          </p:cNvPr>
          <p:cNvSpPr txBox="1"/>
          <p:nvPr/>
        </p:nvSpPr>
        <p:spPr>
          <a:xfrm>
            <a:off x="5410200" y="6188783"/>
            <a:ext cx="6895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hlinkClick r:id="rId8"/>
              </a:rPr>
              <a:t>https://www.reddit.com/r/raspberry_pi/comments/1t5tuu3/built_a_glitch_camera_with_raspberry_pi/</a:t>
            </a:r>
            <a:endParaRPr lang="en-US" sz="1200" dirty="0"/>
          </a:p>
          <a:p>
            <a:r>
              <a:rPr lang="en-US" sz="1200" dirty="0"/>
              <a:t>Post Process Glitch: </a:t>
            </a:r>
            <a:r>
              <a:rPr lang="en-US" sz="1200" dirty="0">
                <a:hlinkClick r:id="rId9"/>
              </a:rPr>
              <a:t>https://github.com/makew0rld/live-glitch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935D3-29E1-4175-8DE5-14986150C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System Block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0E075-242C-A5EB-7F0C-85ACCFE39846}"/>
              </a:ext>
            </a:extLst>
          </p:cNvPr>
          <p:cNvSpPr/>
          <p:nvPr/>
        </p:nvSpPr>
        <p:spPr>
          <a:xfrm>
            <a:off x="4953000" y="2247900"/>
            <a:ext cx="2171700" cy="3390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FC81A1-B19B-D756-252D-ECAAD393004B}"/>
              </a:ext>
            </a:extLst>
          </p:cNvPr>
          <p:cNvSpPr/>
          <p:nvPr/>
        </p:nvSpPr>
        <p:spPr>
          <a:xfrm>
            <a:off x="2133600" y="2247900"/>
            <a:ext cx="2171700" cy="6286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Potentiometer</a:t>
            </a:r>
          </a:p>
          <a:p>
            <a:pPr algn="ctr"/>
            <a:r>
              <a:rPr lang="en-US" dirty="0"/>
              <a:t>(Glitch)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741428-D418-33EE-7B4B-BDF58D53FC1E}"/>
              </a:ext>
            </a:extLst>
          </p:cNvPr>
          <p:cNvSpPr/>
          <p:nvPr/>
        </p:nvSpPr>
        <p:spPr>
          <a:xfrm>
            <a:off x="2132814" y="2987511"/>
            <a:ext cx="2171700" cy="6286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Potentiometers (3) </a:t>
            </a:r>
          </a:p>
          <a:p>
            <a:pPr algn="ctr"/>
            <a:r>
              <a:rPr lang="en-US" dirty="0"/>
              <a:t>(Color)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C9DA7-0B29-B1DE-8AFC-0F664B391237}"/>
              </a:ext>
            </a:extLst>
          </p:cNvPr>
          <p:cNvSpPr/>
          <p:nvPr/>
        </p:nvSpPr>
        <p:spPr>
          <a:xfrm>
            <a:off x="2132814" y="3771308"/>
            <a:ext cx="2171700" cy="6286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 Axis stick</a:t>
            </a:r>
          </a:p>
          <a:p>
            <a:pPr algn="ctr"/>
            <a:r>
              <a:rPr lang="en-US" dirty="0"/>
              <a:t>(Direction)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3DA80A-2199-0BC6-916D-4F801742B5E8}"/>
              </a:ext>
            </a:extLst>
          </p:cNvPr>
          <p:cNvSpPr/>
          <p:nvPr/>
        </p:nvSpPr>
        <p:spPr>
          <a:xfrm>
            <a:off x="7772400" y="2333624"/>
            <a:ext cx="21717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Screen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BBBB95-B4C1-D46E-33E2-D9DA111718E8}"/>
              </a:ext>
            </a:extLst>
          </p:cNvPr>
          <p:cNvSpPr/>
          <p:nvPr/>
        </p:nvSpPr>
        <p:spPr>
          <a:xfrm>
            <a:off x="7772400" y="2901685"/>
            <a:ext cx="21717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 Segment </a:t>
            </a:r>
            <a:r>
              <a:rPr lang="en-US" dirty="0" err="1"/>
              <a:t>Disp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3AFE31-8F98-9C90-9F8B-76CE5D326544}"/>
              </a:ext>
            </a:extLst>
          </p:cNvPr>
          <p:cNvSpPr/>
          <p:nvPr/>
        </p:nvSpPr>
        <p:spPr>
          <a:xfrm>
            <a:off x="2132814" y="4552356"/>
            <a:ext cx="2171700" cy="365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495048-031D-B1CD-FF00-D2CAB8F79DA8}"/>
              </a:ext>
            </a:extLst>
          </p:cNvPr>
          <p:cNvCxnSpPr>
            <a:stCxn id="7" idx="3"/>
          </p:cNvCxnSpPr>
          <p:nvPr/>
        </p:nvCxnSpPr>
        <p:spPr>
          <a:xfrm flipV="1">
            <a:off x="4305300" y="2562224"/>
            <a:ext cx="6477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293761-C24B-AA83-E3E7-B4131824D595}"/>
              </a:ext>
            </a:extLst>
          </p:cNvPr>
          <p:cNvCxnSpPr/>
          <p:nvPr/>
        </p:nvCxnSpPr>
        <p:spPr>
          <a:xfrm flipV="1">
            <a:off x="4296658" y="3323928"/>
            <a:ext cx="6477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D1F89E-F503-E608-CA25-E632084D9940}"/>
              </a:ext>
            </a:extLst>
          </p:cNvPr>
          <p:cNvCxnSpPr/>
          <p:nvPr/>
        </p:nvCxnSpPr>
        <p:spPr>
          <a:xfrm flipV="1">
            <a:off x="4305300" y="4100511"/>
            <a:ext cx="6477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680281-673D-8AB0-2C0A-937EC4554BC4}"/>
              </a:ext>
            </a:extLst>
          </p:cNvPr>
          <p:cNvCxnSpPr/>
          <p:nvPr/>
        </p:nvCxnSpPr>
        <p:spPr>
          <a:xfrm flipV="1">
            <a:off x="4296658" y="4729160"/>
            <a:ext cx="6477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EECB99-F1D2-C19E-D763-1F8162B95077}"/>
              </a:ext>
            </a:extLst>
          </p:cNvPr>
          <p:cNvCxnSpPr/>
          <p:nvPr/>
        </p:nvCxnSpPr>
        <p:spPr>
          <a:xfrm flipV="1">
            <a:off x="7133342" y="2562224"/>
            <a:ext cx="6477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E00CFD-29ED-5E8E-EF8F-0DB84CC8BDCF}"/>
              </a:ext>
            </a:extLst>
          </p:cNvPr>
          <p:cNvCxnSpPr/>
          <p:nvPr/>
        </p:nvCxnSpPr>
        <p:spPr>
          <a:xfrm flipV="1">
            <a:off x="7136091" y="3130285"/>
            <a:ext cx="6477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0009C1-97F8-BBDC-BE9E-84184D40B91D}"/>
              </a:ext>
            </a:extLst>
          </p:cNvPr>
          <p:cNvCxnSpPr/>
          <p:nvPr/>
        </p:nvCxnSpPr>
        <p:spPr>
          <a:xfrm flipV="1">
            <a:off x="7145518" y="3698345"/>
            <a:ext cx="6477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1643CC8-4167-B6C7-BF82-041464E9ABAC}"/>
              </a:ext>
            </a:extLst>
          </p:cNvPr>
          <p:cNvSpPr/>
          <p:nvPr/>
        </p:nvSpPr>
        <p:spPr>
          <a:xfrm>
            <a:off x="7769423" y="3461392"/>
            <a:ext cx="21717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LED (2)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6CC251-2B91-712A-0397-4719E31F181B}"/>
              </a:ext>
            </a:extLst>
          </p:cNvPr>
          <p:cNvSpPr/>
          <p:nvPr/>
        </p:nvSpPr>
        <p:spPr>
          <a:xfrm>
            <a:off x="2132814" y="5058364"/>
            <a:ext cx="21717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Camera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294169-346F-98B2-6B4D-3C54A17EB9FA}"/>
              </a:ext>
            </a:extLst>
          </p:cNvPr>
          <p:cNvCxnSpPr/>
          <p:nvPr/>
        </p:nvCxnSpPr>
        <p:spPr>
          <a:xfrm flipV="1">
            <a:off x="4305300" y="5286963"/>
            <a:ext cx="6477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3CE3687-CF51-BCD1-0F77-C169D9DDF472}"/>
              </a:ext>
            </a:extLst>
          </p:cNvPr>
          <p:cNvSpPr txBox="1"/>
          <p:nvPr/>
        </p:nvSpPr>
        <p:spPr>
          <a:xfrm>
            <a:off x="4355364" y="2358927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64C8BF-581C-A9CC-DBB8-D8E67038E58A}"/>
              </a:ext>
            </a:extLst>
          </p:cNvPr>
          <p:cNvSpPr txBox="1"/>
          <p:nvPr/>
        </p:nvSpPr>
        <p:spPr>
          <a:xfrm>
            <a:off x="4352566" y="3140720"/>
            <a:ext cx="5501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AIN (3)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08FBD1-02D3-E751-8B74-A2C0FA1AE11B}"/>
              </a:ext>
            </a:extLst>
          </p:cNvPr>
          <p:cNvSpPr txBox="1"/>
          <p:nvPr/>
        </p:nvSpPr>
        <p:spPr>
          <a:xfrm>
            <a:off x="4313156" y="3922513"/>
            <a:ext cx="5501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AIN (2)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5C978E-8C21-2DB6-02AA-D25E34079E61}"/>
              </a:ext>
            </a:extLst>
          </p:cNvPr>
          <p:cNvSpPr txBox="1"/>
          <p:nvPr/>
        </p:nvSpPr>
        <p:spPr>
          <a:xfrm>
            <a:off x="4304514" y="45428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GPIO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92B5F8-0B58-5635-43A5-165C4FBAF20F}"/>
              </a:ext>
            </a:extLst>
          </p:cNvPr>
          <p:cNvSpPr txBox="1"/>
          <p:nvPr/>
        </p:nvSpPr>
        <p:spPr>
          <a:xfrm>
            <a:off x="4308277" y="5098140"/>
            <a:ext cx="7168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USBA</a:t>
            </a:r>
          </a:p>
          <a:p>
            <a:r>
              <a:rPr lang="en-US" sz="900" dirty="0"/>
              <a:t>Converted</a:t>
            </a:r>
          </a:p>
          <a:p>
            <a:r>
              <a:rPr lang="en-US" sz="900" dirty="0"/>
              <a:t>USB input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5E2DE7-0EDE-B729-5CCB-7E5C8CC8D59C}"/>
              </a:ext>
            </a:extLst>
          </p:cNvPr>
          <p:cNvSpPr txBox="1"/>
          <p:nvPr/>
        </p:nvSpPr>
        <p:spPr>
          <a:xfrm>
            <a:off x="7108707" y="3514725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GPIO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59E260-EBC5-D4C0-46EB-5EEF2CC0ADA9}"/>
              </a:ext>
            </a:extLst>
          </p:cNvPr>
          <p:cNvSpPr txBox="1"/>
          <p:nvPr/>
        </p:nvSpPr>
        <p:spPr>
          <a:xfrm>
            <a:off x="7074388" y="2943059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GPIO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9687EC-6E4D-5758-5937-00BC32BEC502}"/>
              </a:ext>
            </a:extLst>
          </p:cNvPr>
          <p:cNvSpPr txBox="1"/>
          <p:nvPr/>
        </p:nvSpPr>
        <p:spPr>
          <a:xfrm>
            <a:off x="7124700" y="2358927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SPI0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07EB49D-2CBF-83EB-2896-31A91787C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486" y="4769673"/>
            <a:ext cx="1866934" cy="76675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DD25AFD-ECE7-0F4C-4E20-CBB4452FFA33}"/>
              </a:ext>
            </a:extLst>
          </p:cNvPr>
          <p:cNvSpPr/>
          <p:nvPr/>
        </p:nvSpPr>
        <p:spPr>
          <a:xfrm>
            <a:off x="5207176" y="3080378"/>
            <a:ext cx="1627891" cy="4429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MicroSD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C6B87B-A821-1C3D-5417-16893C2D16A8}"/>
              </a:ext>
            </a:extLst>
          </p:cNvPr>
          <p:cNvSpPr/>
          <p:nvPr/>
        </p:nvSpPr>
        <p:spPr>
          <a:xfrm>
            <a:off x="7769423" y="4057648"/>
            <a:ext cx="21717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Buzzer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72E237-8B19-0804-DE31-9091B9FF10CC}"/>
              </a:ext>
            </a:extLst>
          </p:cNvPr>
          <p:cNvCxnSpPr/>
          <p:nvPr/>
        </p:nvCxnSpPr>
        <p:spPr>
          <a:xfrm flipV="1">
            <a:off x="7121723" y="4303030"/>
            <a:ext cx="6477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E9F7344-ACD2-4E60-8319-2E2BE7FA31A9}"/>
              </a:ext>
            </a:extLst>
          </p:cNvPr>
          <p:cNvSpPr txBox="1"/>
          <p:nvPr/>
        </p:nvSpPr>
        <p:spPr>
          <a:xfrm>
            <a:off x="7108707" y="4100511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GPIO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E24ECF-7EC2-5381-BA3C-F885E734D8BE}"/>
              </a:ext>
            </a:extLst>
          </p:cNvPr>
          <p:cNvSpPr txBox="1"/>
          <p:nvPr/>
        </p:nvSpPr>
        <p:spPr>
          <a:xfrm>
            <a:off x="4352566" y="4107002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GPIO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84C49A-FA66-3F1B-2925-A926FAEB19EA}"/>
              </a:ext>
            </a:extLst>
          </p:cNvPr>
          <p:cNvSpPr txBox="1"/>
          <p:nvPr/>
        </p:nvSpPr>
        <p:spPr>
          <a:xfrm>
            <a:off x="2789429" y="5320103"/>
            <a:ext cx="9380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USB Camera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0310A1-30B6-F324-482A-ED85F12E080B}"/>
              </a:ext>
            </a:extLst>
          </p:cNvPr>
          <p:cNvSpPr txBox="1"/>
          <p:nvPr/>
        </p:nvSpPr>
        <p:spPr>
          <a:xfrm>
            <a:off x="2379061" y="4346836"/>
            <a:ext cx="1758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WMYCONGCONG Joystick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FF22B2-AC76-4E93-C487-8937D4CA0545}"/>
              </a:ext>
            </a:extLst>
          </p:cNvPr>
          <p:cNvSpPr txBox="1"/>
          <p:nvPr/>
        </p:nvSpPr>
        <p:spPr>
          <a:xfrm>
            <a:off x="8297267" y="2595856"/>
            <a:ext cx="11160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IPS TFT Display</a:t>
            </a:r>
          </a:p>
        </p:txBody>
      </p:sp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0F670-1582-6E65-256D-5D461940835B}"/>
              </a:ext>
            </a:extLst>
          </p:cNvPr>
          <p:cNvSpPr/>
          <p:nvPr/>
        </p:nvSpPr>
        <p:spPr>
          <a:xfrm>
            <a:off x="4963916" y="1561082"/>
            <a:ext cx="21717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9AC80-C8A4-176E-F5FA-2394F1452549}"/>
              </a:ext>
            </a:extLst>
          </p:cNvPr>
          <p:cNvSpPr/>
          <p:nvPr/>
        </p:nvSpPr>
        <p:spPr>
          <a:xfrm>
            <a:off x="4951216" y="837183"/>
            <a:ext cx="21717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Battery (5V)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55F7ED-ABFD-6F65-9AB0-7C85D4DF82B0}"/>
              </a:ext>
            </a:extLst>
          </p:cNvPr>
          <p:cNvSpPr/>
          <p:nvPr/>
        </p:nvSpPr>
        <p:spPr>
          <a:xfrm>
            <a:off x="2563616" y="2323082"/>
            <a:ext cx="21717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5V Rail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C9C5D7-2555-663C-216A-D9CE4F79EFD8}"/>
              </a:ext>
            </a:extLst>
          </p:cNvPr>
          <p:cNvSpPr/>
          <p:nvPr/>
        </p:nvSpPr>
        <p:spPr>
          <a:xfrm>
            <a:off x="4963916" y="2323082"/>
            <a:ext cx="21717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3.3V Rail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09DA7B-62B9-23D2-CEE6-E687AFA19C71}"/>
              </a:ext>
            </a:extLst>
          </p:cNvPr>
          <p:cNvSpPr/>
          <p:nvPr/>
        </p:nvSpPr>
        <p:spPr>
          <a:xfrm>
            <a:off x="7364216" y="2323082"/>
            <a:ext cx="21717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1.8 V Rail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D7E10-E812-DDCE-A938-D07305B90B5B}"/>
              </a:ext>
            </a:extLst>
          </p:cNvPr>
          <p:cNvSpPr/>
          <p:nvPr/>
        </p:nvSpPr>
        <p:spPr>
          <a:xfrm>
            <a:off x="7574645" y="2885946"/>
            <a:ext cx="17272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Potentiometers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553ABA-6038-B116-F921-80F5C1673C9F}"/>
              </a:ext>
            </a:extLst>
          </p:cNvPr>
          <p:cNvSpPr/>
          <p:nvPr/>
        </p:nvSpPr>
        <p:spPr>
          <a:xfrm>
            <a:off x="7567388" y="3620085"/>
            <a:ext cx="17272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 Axis stick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FD072C-01B4-1BB3-4C89-44D19949527A}"/>
              </a:ext>
            </a:extLst>
          </p:cNvPr>
          <p:cNvSpPr/>
          <p:nvPr/>
        </p:nvSpPr>
        <p:spPr>
          <a:xfrm>
            <a:off x="5201556" y="2885946"/>
            <a:ext cx="17145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C04CAF-1719-4636-4EDA-A31323BBA3EA}"/>
              </a:ext>
            </a:extLst>
          </p:cNvPr>
          <p:cNvSpPr/>
          <p:nvPr/>
        </p:nvSpPr>
        <p:spPr>
          <a:xfrm>
            <a:off x="5201556" y="3529307"/>
            <a:ext cx="17145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53EEDD-0F04-17EA-3C53-CCE8302B5C2F}"/>
              </a:ext>
            </a:extLst>
          </p:cNvPr>
          <p:cNvSpPr/>
          <p:nvPr/>
        </p:nvSpPr>
        <p:spPr>
          <a:xfrm>
            <a:off x="5223817" y="5542953"/>
            <a:ext cx="17145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Screen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BEDA34-1D54-8485-F884-0AED0759199D}"/>
              </a:ext>
            </a:extLst>
          </p:cNvPr>
          <p:cNvSpPr/>
          <p:nvPr/>
        </p:nvSpPr>
        <p:spPr>
          <a:xfrm>
            <a:off x="2846975" y="2873197"/>
            <a:ext cx="17145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USB Camera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40C6BF-1E40-3DAF-8CFC-E9DA846C07B0}"/>
              </a:ext>
            </a:extLst>
          </p:cNvPr>
          <p:cNvSpPr/>
          <p:nvPr/>
        </p:nvSpPr>
        <p:spPr>
          <a:xfrm>
            <a:off x="5198433" y="4172668"/>
            <a:ext cx="17145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 Seg </a:t>
            </a:r>
            <a:r>
              <a:rPr lang="en-US" dirty="0" err="1"/>
              <a:t>Disp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BCB31E-0708-9C02-7377-076A0CFCCD69}"/>
              </a:ext>
            </a:extLst>
          </p:cNvPr>
          <p:cNvSpPr/>
          <p:nvPr/>
        </p:nvSpPr>
        <p:spPr>
          <a:xfrm>
            <a:off x="5198433" y="4748507"/>
            <a:ext cx="1727200" cy="419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Potentiometer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DA03CF-2861-B414-0960-722FF85C4A6C}"/>
              </a:ext>
            </a:extLst>
          </p:cNvPr>
          <p:cNvSpPr txBox="1"/>
          <p:nvPr/>
        </p:nvSpPr>
        <p:spPr>
          <a:xfrm>
            <a:off x="6278891" y="5974753"/>
            <a:ext cx="7809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30 mA (1)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29A397-4AFF-AADB-34C1-B5AD02C1A43C}"/>
              </a:ext>
            </a:extLst>
          </p:cNvPr>
          <p:cNvSpPr txBox="1"/>
          <p:nvPr/>
        </p:nvSpPr>
        <p:spPr>
          <a:xfrm>
            <a:off x="329645" y="5835360"/>
            <a:ext cx="70134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arenR"/>
            </a:pPr>
            <a:r>
              <a:rPr lang="en-US" sz="900" dirty="0"/>
              <a:t>https://</a:t>
            </a:r>
            <a:r>
              <a:rPr lang="en-US" sz="900" dirty="0" err="1"/>
              <a:t>www.amazon.com</a:t>
            </a:r>
            <a:r>
              <a:rPr lang="en-US" sz="900" dirty="0"/>
              <a:t>/Display-240x320-Raspberry-Electronic-Projects/</a:t>
            </a:r>
            <a:r>
              <a:rPr lang="en-US" sz="900" dirty="0" err="1"/>
              <a:t>dp</a:t>
            </a:r>
            <a:r>
              <a:rPr lang="en-US" sz="900" dirty="0"/>
              <a:t>/B0H6VZD3LW/</a:t>
            </a:r>
          </a:p>
          <a:p>
            <a:pPr marL="228600" indent="-228600">
              <a:buAutoNum type="arabicParenR"/>
            </a:pPr>
            <a:r>
              <a:rPr lang="en-US" sz="900" dirty="0" err="1"/>
              <a:t>docs.arduino.cc</a:t>
            </a:r>
            <a:r>
              <a:rPr lang="en-US" sz="900" dirty="0"/>
              <a:t>/built-in-examples/digital/Button/</a:t>
            </a:r>
          </a:p>
          <a:p>
            <a:pPr marL="228600" indent="-228600">
              <a:buAutoNum type="arabicParenR"/>
            </a:pPr>
            <a:r>
              <a:rPr lang="en-US" sz="900" dirty="0">
                <a:hlinkClick r:id="rId2"/>
              </a:rPr>
              <a:t>https://forum.arduino.cc/t/led-current-draw/555172</a:t>
            </a:r>
            <a:endParaRPr lang="en-US" sz="900" dirty="0"/>
          </a:p>
          <a:p>
            <a:pPr marL="228600" indent="-228600">
              <a:buAutoNum type="arabicParenR"/>
            </a:pPr>
            <a:r>
              <a:rPr lang="en-US" sz="900" dirty="0">
                <a:hlinkClick r:id="rId3"/>
              </a:rPr>
              <a:t>https://education.ti.com/html/eguides/stem/innovator-basic/EN/content/eg_innovsys/m_bb-datasheets/bb_ds_7seg_display.HTML</a:t>
            </a:r>
            <a:endParaRPr lang="en-US" sz="900" dirty="0"/>
          </a:p>
          <a:p>
            <a:pPr marL="228600" indent="-228600">
              <a:buAutoNum type="arabicParenR"/>
            </a:pPr>
            <a:r>
              <a:rPr lang="en-US" sz="900" dirty="0">
                <a:hlinkClick r:id="rId4"/>
              </a:rPr>
              <a:t>https://forum.arduino.cc/t/why-does-potentiometer-resistance-value-not-matter/223114</a:t>
            </a:r>
            <a:endParaRPr lang="en-US" sz="900" dirty="0"/>
          </a:p>
          <a:p>
            <a:pPr marL="228600" indent="-228600">
              <a:buAutoNum type="arabicParenR"/>
            </a:pPr>
            <a:r>
              <a:rPr lang="en-US" sz="900" dirty="0">
                <a:hlinkClick r:id="rId5"/>
              </a:rPr>
              <a:t>https://www.amazon.com/WGCD-Joystick-Breakout-Controller-Arduino/dp/B01N59MK0U</a:t>
            </a:r>
            <a:r>
              <a:rPr lang="en-US" sz="900" dirty="0"/>
              <a:t> </a:t>
            </a:r>
          </a:p>
          <a:p>
            <a:pPr marL="228600" indent="-228600">
              <a:buAutoNum type="arabicParenR"/>
            </a:pPr>
            <a:r>
              <a:rPr lang="en-US" sz="900" dirty="0"/>
              <a:t>https://</a:t>
            </a:r>
            <a:r>
              <a:rPr lang="en-US" sz="900" dirty="0" err="1"/>
              <a:t>forums.raspberrypi.com</a:t>
            </a:r>
            <a:r>
              <a:rPr lang="en-US" sz="900" dirty="0"/>
              <a:t>/</a:t>
            </a:r>
            <a:r>
              <a:rPr lang="en-US" sz="900" dirty="0" err="1"/>
              <a:t>viewtopic.php?t</a:t>
            </a:r>
            <a:r>
              <a:rPr lang="en-US" sz="900" dirty="0"/>
              <a:t>=343144</a:t>
            </a:r>
          </a:p>
          <a:p>
            <a:pPr marL="228600" indent="-228600">
              <a:buAutoNum type="arabicParenR"/>
            </a:pP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69706C-BC08-6DDB-9948-67A8AC2483E4}"/>
              </a:ext>
            </a:extLst>
          </p:cNvPr>
          <p:cNvSpPr txBox="1"/>
          <p:nvPr/>
        </p:nvSpPr>
        <p:spPr>
          <a:xfrm>
            <a:off x="6236696" y="3245436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0.5 mA (2)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776E30-265D-CB63-AB47-A30CD6745FD0}"/>
              </a:ext>
            </a:extLst>
          </p:cNvPr>
          <p:cNvSpPr txBox="1"/>
          <p:nvPr/>
        </p:nvSpPr>
        <p:spPr>
          <a:xfrm>
            <a:off x="5783638" y="3903666"/>
            <a:ext cx="1314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Typically 20 mA (3)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E11AF0-7478-3987-7C58-DF7E3987203E}"/>
              </a:ext>
            </a:extLst>
          </p:cNvPr>
          <p:cNvSpPr txBox="1"/>
          <p:nvPr/>
        </p:nvSpPr>
        <p:spPr>
          <a:xfrm>
            <a:off x="5738161" y="4540836"/>
            <a:ext cx="1314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Typically 20 mA (4)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CFC29F-B0D5-B169-5DE0-6CFC21AC2507}"/>
              </a:ext>
            </a:extLst>
          </p:cNvPr>
          <p:cNvSpPr txBox="1"/>
          <p:nvPr/>
        </p:nvSpPr>
        <p:spPr>
          <a:xfrm>
            <a:off x="5554966" y="5155225"/>
            <a:ext cx="1492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Typically 10k Ohms (5)</a:t>
            </a:r>
          </a:p>
          <a:p>
            <a:pPr algn="r"/>
            <a:r>
              <a:rPr lang="en-US" sz="1000" dirty="0"/>
              <a:t>so 3.3 mA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EE07BF-91AC-110D-063E-DBFF694DF9A4}"/>
              </a:ext>
            </a:extLst>
          </p:cNvPr>
          <p:cNvSpPr txBox="1"/>
          <p:nvPr/>
        </p:nvSpPr>
        <p:spPr>
          <a:xfrm>
            <a:off x="7981135" y="3296235"/>
            <a:ext cx="1492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Typically 10k Ohms (5)</a:t>
            </a:r>
          </a:p>
          <a:p>
            <a:pPr algn="r"/>
            <a:r>
              <a:rPr lang="en-US" sz="1000" dirty="0"/>
              <a:t>so 1.8 mA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96A0CA-6A94-DCB1-2B4F-1BCA18D4931A}"/>
              </a:ext>
            </a:extLst>
          </p:cNvPr>
          <p:cNvSpPr txBox="1"/>
          <p:nvPr/>
        </p:nvSpPr>
        <p:spPr>
          <a:xfrm>
            <a:off x="8514934" y="4020879"/>
            <a:ext cx="958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dirty="0"/>
              <a:t>10k Ohms (6)</a:t>
            </a:r>
          </a:p>
          <a:p>
            <a:pPr algn="r"/>
            <a:r>
              <a:rPr lang="en-US" sz="1000" dirty="0"/>
              <a:t>so 1.8 mA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F5B59F-5364-60DB-EE0C-E600FD255090}"/>
              </a:ext>
            </a:extLst>
          </p:cNvPr>
          <p:cNvSpPr txBox="1"/>
          <p:nvPr/>
        </p:nvSpPr>
        <p:spPr>
          <a:xfrm>
            <a:off x="3334760" y="3303175"/>
            <a:ext cx="13853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Typically 220 mA (7) </a:t>
            </a:r>
          </a:p>
        </p:txBody>
      </p:sp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894452"/>
              </p:ext>
            </p:extLst>
          </p:nvPr>
        </p:nvGraphicFramePr>
        <p:xfrm>
          <a:off x="609600" y="1295400"/>
          <a:ext cx="10972800" cy="37744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Joystick (ON xlsx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TFT: </a:t>
                      </a:r>
                      <a:r>
                        <a:rPr lang="en-US" dirty="0">
                          <a:hlinkClick r:id="rId2"/>
                        </a:rPr>
                        <a:t>https://www.amazon.com/Display-240x320-Raspberry-Electronic-Projects/dp/B0H6VZD3LW/</a:t>
                      </a:r>
                      <a:r>
                        <a:rPr lang="en-US" dirty="0"/>
                        <a:t> (NOT ON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USB Camera (ON xlsx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$17.99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9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USBA: </a:t>
                      </a:r>
                      <a:r>
                        <a:rPr lang="en-US" dirty="0">
                          <a:hlinkClick r:id="rId3"/>
                        </a:rPr>
                        <a:t>https://www.sparkfun.com/sparkfun-usb-type-a-female-breakout.html</a:t>
                      </a:r>
                      <a:r>
                        <a:rPr lang="en-US" dirty="0"/>
                        <a:t> (NOT ON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4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35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$32.55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7084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76A6262-9FAA-5DFD-2905-9E34A05EDCE4}"/>
              </a:ext>
            </a:extLst>
          </p:cNvPr>
          <p:cNvSpPr txBox="1"/>
          <p:nvPr/>
        </p:nvSpPr>
        <p:spPr>
          <a:xfrm>
            <a:off x="4457700" y="5029200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Next Slide for Instructions</a:t>
            </a:r>
          </a:p>
        </p:txBody>
      </p:sp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1D6D78-1850-2546-AF22-9C490244590C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cac8fe0e-59fa-4615-9f24-e282cf04681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8627</TotalTime>
  <Words>580</Words>
  <Application>Microsoft Macintosh PowerPoint</Application>
  <PresentationFormat>Widescreen</PresentationFormat>
  <Paragraphs>99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Diamond Grid 16x9</vt:lpstr>
      <vt:lpstr>EDES 301  Glitch Camera Proposal</vt:lpstr>
      <vt:lpstr>Background Information</vt:lpstr>
      <vt:lpstr>System Block Diagram</vt:lpstr>
      <vt:lpstr>Power Block Diagram</vt:lpstr>
      <vt:lpstr>Components /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Shuken Nakamura</cp:lastModifiedBy>
  <cp:revision>423</cp:revision>
  <dcterms:created xsi:type="dcterms:W3CDTF">2018-01-09T20:24:50Z</dcterms:created>
  <dcterms:modified xsi:type="dcterms:W3CDTF">2026-10-07T02:12:02Z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